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5" r:id="rId1"/>
  </p:sld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9" r:id="rId13"/>
    <p:sldId id="270" r:id="rId14"/>
    <p:sldId id="273" r:id="rId15"/>
    <p:sldId id="274" r:id="rId16"/>
    <p:sldId id="27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C8D6E9-671B-47F0-BC2A-B0A902EE7A23}" v="1" dt="2026-04-26T18:28:09.298"/>
    <p1510:client id="{5BD8F5D7-C4A7-44F9-8A61-A766B591322F}" v="11" dt="2026-04-26T18:34:07.3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6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Gupta" userId="56ae4ba9f50b6999" providerId="LiveId" clId="{CD146723-E0E7-469F-897A-EC1DE2B6C17A}"/>
    <pc:docChg chg="custSel modSld">
      <pc:chgData name="Aditya Gupta" userId="56ae4ba9f50b6999" providerId="LiveId" clId="{CD146723-E0E7-469F-897A-EC1DE2B6C17A}" dt="2026-04-26T18:34:07.455" v="18" actId="27636"/>
      <pc:docMkLst>
        <pc:docMk/>
      </pc:docMkLst>
      <pc:sldChg chg="modSp mod">
        <pc:chgData name="Aditya Gupta" userId="56ae4ba9f50b6999" providerId="LiveId" clId="{CD146723-E0E7-469F-897A-EC1DE2B6C17A}" dt="2026-04-26T18:34:07.455" v="18" actId="27636"/>
        <pc:sldMkLst>
          <pc:docMk/>
          <pc:sldMk cId="0" sldId="256"/>
        </pc:sldMkLst>
        <pc:spChg chg="mod">
          <ac:chgData name="Aditya Gupta" userId="56ae4ba9f50b6999" providerId="LiveId" clId="{CD146723-E0E7-469F-897A-EC1DE2B6C17A}" dt="2026-04-26T18:34:07.455" v="18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Aditya Gupta" userId="56ae4ba9f50b6999" providerId="LiveId" clId="{CD146723-E0E7-469F-897A-EC1DE2B6C17A}" dt="2026-04-26T18:34:07.330" v="17"/>
        <pc:sldMkLst>
          <pc:docMk/>
          <pc:sldMk cId="0" sldId="257"/>
        </pc:sldMkLst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57"/>
            <ac:spMk id="2" creationId="{00000000-0000-0000-0000-000000000000}"/>
          </ac:spMkLst>
        </pc:spChg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Aditya Gupta" userId="56ae4ba9f50b6999" providerId="LiveId" clId="{CD146723-E0E7-469F-897A-EC1DE2B6C17A}" dt="2026-04-26T18:34:07.330" v="17"/>
        <pc:sldMkLst>
          <pc:docMk/>
          <pc:sldMk cId="0" sldId="258"/>
        </pc:sldMkLst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58"/>
            <ac:spMk id="2" creationId="{00000000-0000-0000-0000-000000000000}"/>
          </ac:spMkLst>
        </pc:spChg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Aditya Gupta" userId="56ae4ba9f50b6999" providerId="LiveId" clId="{CD146723-E0E7-469F-897A-EC1DE2B6C17A}" dt="2026-04-26T18:34:07.330" v="17"/>
        <pc:sldMkLst>
          <pc:docMk/>
          <pc:sldMk cId="0" sldId="259"/>
        </pc:sldMkLst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59"/>
            <ac:spMk id="2" creationId="{00000000-0000-0000-0000-000000000000}"/>
          </ac:spMkLst>
        </pc:spChg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Aditya Gupta" userId="56ae4ba9f50b6999" providerId="LiveId" clId="{CD146723-E0E7-469F-897A-EC1DE2B6C17A}" dt="2026-04-26T18:34:07.330" v="17"/>
        <pc:sldMkLst>
          <pc:docMk/>
          <pc:sldMk cId="0" sldId="260"/>
        </pc:sldMkLst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60"/>
            <ac:spMk id="2" creationId="{00000000-0000-0000-0000-000000000000}"/>
          </ac:spMkLst>
        </pc:spChg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60"/>
            <ac:spMk id="3" creationId="{00000000-0000-0000-0000-000000000000}"/>
          </ac:spMkLst>
        </pc:spChg>
      </pc:sldChg>
      <pc:sldChg chg="modSp">
        <pc:chgData name="Aditya Gupta" userId="56ae4ba9f50b6999" providerId="LiveId" clId="{CD146723-E0E7-469F-897A-EC1DE2B6C17A}" dt="2026-04-26T18:34:07.330" v="17"/>
        <pc:sldMkLst>
          <pc:docMk/>
          <pc:sldMk cId="0" sldId="261"/>
        </pc:sldMkLst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61"/>
            <ac:spMk id="2" creationId="{00000000-0000-0000-0000-000000000000}"/>
          </ac:spMkLst>
        </pc:spChg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Aditya Gupta" userId="56ae4ba9f50b6999" providerId="LiveId" clId="{CD146723-E0E7-469F-897A-EC1DE2B6C17A}" dt="2026-04-26T18:34:07.330" v="17"/>
        <pc:sldMkLst>
          <pc:docMk/>
          <pc:sldMk cId="0" sldId="263"/>
        </pc:sldMkLst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63"/>
            <ac:spMk id="2" creationId="{00000000-0000-0000-0000-000000000000}"/>
          </ac:spMkLst>
        </pc:spChg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Aditya Gupta" userId="56ae4ba9f50b6999" providerId="LiveId" clId="{CD146723-E0E7-469F-897A-EC1DE2B6C17A}" dt="2026-04-26T18:34:07.330" v="17"/>
        <pc:sldMkLst>
          <pc:docMk/>
          <pc:sldMk cId="0" sldId="264"/>
        </pc:sldMkLst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64"/>
            <ac:spMk id="2" creationId="{00000000-0000-0000-0000-000000000000}"/>
          </ac:spMkLst>
        </pc:spChg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64"/>
            <ac:spMk id="3" creationId="{00000000-0000-0000-0000-000000000000}"/>
          </ac:spMkLst>
        </pc:spChg>
      </pc:sldChg>
      <pc:sldChg chg="modSp">
        <pc:chgData name="Aditya Gupta" userId="56ae4ba9f50b6999" providerId="LiveId" clId="{CD146723-E0E7-469F-897A-EC1DE2B6C17A}" dt="2026-04-26T18:34:07.330" v="17"/>
        <pc:sldMkLst>
          <pc:docMk/>
          <pc:sldMk cId="0" sldId="265"/>
        </pc:sldMkLst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65"/>
            <ac:spMk id="2" creationId="{00000000-0000-0000-0000-000000000000}"/>
          </ac:spMkLst>
        </pc:spChg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65"/>
            <ac:spMk id="3" creationId="{00000000-0000-0000-0000-000000000000}"/>
          </ac:spMkLst>
        </pc:spChg>
      </pc:sldChg>
      <pc:sldChg chg="modSp">
        <pc:chgData name="Aditya Gupta" userId="56ae4ba9f50b6999" providerId="LiveId" clId="{CD146723-E0E7-469F-897A-EC1DE2B6C17A}" dt="2026-04-26T18:34:07.330" v="17"/>
        <pc:sldMkLst>
          <pc:docMk/>
          <pc:sldMk cId="0" sldId="266"/>
        </pc:sldMkLst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66"/>
            <ac:spMk id="2" creationId="{00000000-0000-0000-0000-000000000000}"/>
          </ac:spMkLst>
        </pc:spChg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66"/>
            <ac:spMk id="3" creationId="{00000000-0000-0000-0000-000000000000}"/>
          </ac:spMkLst>
        </pc:spChg>
      </pc:sldChg>
      <pc:sldChg chg="modSp">
        <pc:chgData name="Aditya Gupta" userId="56ae4ba9f50b6999" providerId="LiveId" clId="{CD146723-E0E7-469F-897A-EC1DE2B6C17A}" dt="2026-04-26T18:34:07.330" v="17"/>
        <pc:sldMkLst>
          <pc:docMk/>
          <pc:sldMk cId="0" sldId="269"/>
        </pc:sldMkLst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69"/>
            <ac:spMk id="2" creationId="{00000000-0000-0000-0000-000000000000}"/>
          </ac:spMkLst>
        </pc:spChg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69"/>
            <ac:spMk id="3" creationId="{00000000-0000-0000-0000-000000000000}"/>
          </ac:spMkLst>
        </pc:spChg>
      </pc:sldChg>
      <pc:sldChg chg="modSp">
        <pc:chgData name="Aditya Gupta" userId="56ae4ba9f50b6999" providerId="LiveId" clId="{CD146723-E0E7-469F-897A-EC1DE2B6C17A}" dt="2026-04-26T18:34:07.330" v="17"/>
        <pc:sldMkLst>
          <pc:docMk/>
          <pc:sldMk cId="0" sldId="270"/>
        </pc:sldMkLst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70"/>
            <ac:spMk id="2" creationId="{00000000-0000-0000-0000-000000000000}"/>
          </ac:spMkLst>
        </pc:spChg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70"/>
            <ac:spMk id="3" creationId="{00000000-0000-0000-0000-000000000000}"/>
          </ac:spMkLst>
        </pc:spChg>
      </pc:sldChg>
      <pc:sldChg chg="modSp">
        <pc:chgData name="Aditya Gupta" userId="56ae4ba9f50b6999" providerId="LiveId" clId="{CD146723-E0E7-469F-897A-EC1DE2B6C17A}" dt="2026-04-26T18:34:07.330" v="17"/>
        <pc:sldMkLst>
          <pc:docMk/>
          <pc:sldMk cId="0" sldId="273"/>
        </pc:sldMkLst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73"/>
            <ac:spMk id="2" creationId="{00000000-0000-0000-0000-000000000000}"/>
          </ac:spMkLst>
        </pc:spChg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73"/>
            <ac:spMk id="3" creationId="{00000000-0000-0000-0000-000000000000}"/>
          </ac:spMkLst>
        </pc:spChg>
      </pc:sldChg>
      <pc:sldChg chg="modSp">
        <pc:chgData name="Aditya Gupta" userId="56ae4ba9f50b6999" providerId="LiveId" clId="{CD146723-E0E7-469F-897A-EC1DE2B6C17A}" dt="2026-04-26T18:34:07.330" v="17"/>
        <pc:sldMkLst>
          <pc:docMk/>
          <pc:sldMk cId="0" sldId="274"/>
        </pc:sldMkLst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74"/>
            <ac:spMk id="2" creationId="{00000000-0000-0000-0000-000000000000}"/>
          </ac:spMkLst>
        </pc:spChg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74"/>
            <ac:spMk id="3" creationId="{00000000-0000-0000-0000-000000000000}"/>
          </ac:spMkLst>
        </pc:spChg>
      </pc:sldChg>
      <pc:sldChg chg="modSp">
        <pc:chgData name="Aditya Gupta" userId="56ae4ba9f50b6999" providerId="LiveId" clId="{CD146723-E0E7-469F-897A-EC1DE2B6C17A}" dt="2026-04-26T18:34:07.330" v="17"/>
        <pc:sldMkLst>
          <pc:docMk/>
          <pc:sldMk cId="0" sldId="275"/>
        </pc:sldMkLst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75"/>
            <ac:spMk id="2" creationId="{00000000-0000-0000-0000-000000000000}"/>
          </ac:spMkLst>
        </pc:spChg>
        <pc:spChg chg="mod">
          <ac:chgData name="Aditya Gupta" userId="56ae4ba9f50b6999" providerId="LiveId" clId="{CD146723-E0E7-469F-897A-EC1DE2B6C17A}" dt="2026-04-26T18:34:07.330" v="17"/>
          <ac:spMkLst>
            <pc:docMk/>
            <pc:sldMk cId="0" sldId="275"/>
            <ac:spMk id="3" creationId="{00000000-0000-0000-0000-000000000000}"/>
          </ac:spMkLst>
        </pc:spChg>
      </pc:sldChg>
      <pc:sldChg chg="modSp">
        <pc:chgData name="Aditya Gupta" userId="56ae4ba9f50b6999" providerId="LiveId" clId="{CD146723-E0E7-469F-897A-EC1DE2B6C17A}" dt="2026-04-26T18:34:07.330" v="17"/>
        <pc:sldMkLst>
          <pc:docMk/>
          <pc:sldMk cId="416368886" sldId="276"/>
        </pc:sldMkLst>
        <pc:spChg chg="mod">
          <ac:chgData name="Aditya Gupta" userId="56ae4ba9f50b6999" providerId="LiveId" clId="{CD146723-E0E7-469F-897A-EC1DE2B6C17A}" dt="2026-04-26T18:34:07.330" v="17"/>
          <ac:spMkLst>
            <pc:docMk/>
            <pc:sldMk cId="416368886" sldId="276"/>
            <ac:spMk id="2" creationId="{419E9827-4F8B-0C80-CFD6-E01B0B04FEFA}"/>
          </ac:spMkLst>
        </pc:spChg>
        <pc:spChg chg="mod">
          <ac:chgData name="Aditya Gupta" userId="56ae4ba9f50b6999" providerId="LiveId" clId="{CD146723-E0E7-469F-897A-EC1DE2B6C17A}" dt="2026-04-26T18:34:07.330" v="17"/>
          <ac:spMkLst>
            <pc:docMk/>
            <pc:sldMk cId="416368886" sldId="276"/>
            <ac:spMk id="3" creationId="{B3236AFE-C46E-2659-58F0-568A94D7686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60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40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59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27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754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385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893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491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26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280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313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Underwater Image Enhancement using </a:t>
            </a:r>
            <a:r>
              <a:rPr dirty="0" err="1"/>
              <a:t>PIXMambaNet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Aditya Gupta (2304088)</a:t>
            </a:r>
          </a:p>
          <a:p>
            <a:pPr marL="0" indent="0">
              <a:buNone/>
            </a:pPr>
            <a:r>
              <a:rPr dirty="0"/>
              <a:t>Ashish Anand (2304089)</a:t>
            </a:r>
            <a:r>
              <a:rPr lang="en-IN" dirty="0"/>
              <a:t> </a:t>
            </a:r>
            <a:endParaRPr dirty="0"/>
          </a:p>
          <a:p>
            <a:pPr marL="0" indent="0">
              <a:buNone/>
            </a:pPr>
            <a:r>
              <a:rPr dirty="0"/>
              <a:t>Vaishnavi Verma (2304023)</a:t>
            </a:r>
          </a:p>
          <a:p>
            <a:pPr marL="0" indent="0">
              <a:buNone/>
            </a:pPr>
            <a:r>
              <a:rPr dirty="0"/>
              <a:t>Supervisor: Dr. Ashish Bhandari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E9827-4F8B-0C80-CFD6-E01B0B04F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36AFE-C46E-2659-58F0-568A94D76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project focuses on enhancing underwater images using a novel deep learning model called </a:t>
            </a:r>
            <a:r>
              <a:rPr lang="en-US" dirty="0" err="1"/>
              <a:t>PIXMambaNet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is based on the Mamba architecture, which is a state-space model designed for efficient sequence modeling.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368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Underwater images suffer from major quality issues due to physical properties of water.</a:t>
            </a:r>
            <a:br>
              <a:rPr lang="en-US" dirty="0"/>
            </a:br>
            <a:r>
              <a:rPr lang="en-US" dirty="0"/>
              <a:t>First, </a:t>
            </a:r>
            <a:r>
              <a:rPr lang="en-US" b="1" dirty="0"/>
              <a:t>color distortion</a:t>
            </a:r>
            <a:r>
              <a:rPr lang="en-US" dirty="0"/>
              <a:t> occurs because red wavelengths are absorbed quickly, leaving a blue-green tint.</a:t>
            </a:r>
            <a:br>
              <a:rPr lang="en-US" dirty="0"/>
            </a:br>
            <a:r>
              <a:rPr lang="en-US" dirty="0"/>
              <a:t>Second, </a:t>
            </a:r>
            <a:r>
              <a:rPr lang="en-US" b="1" dirty="0"/>
              <a:t>scattering</a:t>
            </a:r>
            <a:r>
              <a:rPr lang="en-US" dirty="0"/>
              <a:t> from particles causes haze and reduces visibility.</a:t>
            </a:r>
            <a:br>
              <a:rPr lang="en-US" dirty="0"/>
            </a:br>
            <a:r>
              <a:rPr lang="en-US" dirty="0"/>
              <a:t>As a result, images lose contrast and fine details.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problem is critical because underwater imaging is widely used in marine research, underwater robotics, and surveillance.</a:t>
            </a:r>
            <a:br>
              <a:rPr lang="en-US" dirty="0"/>
            </a:br>
            <a:r>
              <a:rPr lang="en-US" dirty="0"/>
              <a:t>Poor image quality directly affects tasks like object detection and navigation, making enhancement essential.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Traditional CNNs are good at capturing local features but fail to model global relationships.</a:t>
            </a:r>
            <a:br>
              <a:rPr lang="en-US" dirty="0"/>
            </a:br>
            <a:r>
              <a:rPr lang="en-US" dirty="0"/>
              <a:t>GANs produce visually good images but are unstable during training.</a:t>
            </a:r>
            <a:br>
              <a:rPr lang="en-US" dirty="0"/>
            </a:br>
            <a:r>
              <a:rPr lang="en-US" dirty="0"/>
              <a:t>Transformers capture global dependencies but are computationally expensive with O(N²) complexity.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overcome these issues, we propose </a:t>
            </a:r>
            <a:r>
              <a:rPr lang="en-US" dirty="0" err="1"/>
              <a:t>PIXMambaNet</a:t>
            </a:r>
            <a:r>
              <a:rPr lang="en-US" dirty="0"/>
              <a:t>, based on the Mamba architecture.</a:t>
            </a:r>
            <a:br>
              <a:rPr lang="en-US" dirty="0"/>
            </a:br>
            <a:r>
              <a:rPr lang="en-US" dirty="0"/>
              <a:t>It uses state-space models to achieve </a:t>
            </a:r>
            <a:r>
              <a:rPr lang="en-US" b="1" dirty="0"/>
              <a:t>linear complexity O(N)</a:t>
            </a:r>
            <a:r>
              <a:rPr lang="en-US" dirty="0"/>
              <a:t> while still capturing long-range dependencies efficiently.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Mamba?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 Space Model</a:t>
            </a:r>
          </a:p>
          <a:p>
            <a:r>
              <a:t>Selective Scan mechanism</a:t>
            </a:r>
          </a:p>
          <a:p>
            <a:r>
              <a:t>Efficient sequence modeling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model follows an encoder-decoder structure.</a:t>
            </a:r>
            <a:br>
              <a:rPr lang="en-US" dirty="0"/>
            </a:br>
            <a:r>
              <a:rPr lang="en-US" dirty="0"/>
              <a:t>The encoder extracts features, the </a:t>
            </a:r>
            <a:r>
              <a:rPr lang="en-US" dirty="0" err="1"/>
              <a:t>PixelMamba</a:t>
            </a:r>
            <a:r>
              <a:rPr lang="en-US" dirty="0"/>
              <a:t> blocks process them, and the decoder reconstructs the enhanced image.</a:t>
            </a:r>
            <a:br>
              <a:rPr lang="en-US" dirty="0"/>
            </a:br>
            <a:r>
              <a:rPr lang="en-US" dirty="0"/>
              <a:t>The entire model is lightweight with only about </a:t>
            </a:r>
            <a:r>
              <a:rPr lang="en-US" b="1" dirty="0"/>
              <a:t>284K parameters</a:t>
            </a:r>
            <a:r>
              <a:rPr lang="en-US" dirty="0"/>
              <a:t>, making it efficient.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PixelMamba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the core component of our model.</a:t>
            </a:r>
            <a:br>
              <a:rPr lang="en-US" dirty="0"/>
            </a:br>
            <a:r>
              <a:rPr lang="en-US" dirty="0"/>
              <a:t>It processes image features in both forward and backward directions to capture global context.</a:t>
            </a:r>
            <a:br>
              <a:rPr lang="en-US" dirty="0"/>
            </a:br>
            <a:r>
              <a:rPr lang="en-US" dirty="0"/>
              <a:t>An adaptive gate decides how much information to retain, and a residual connection ensures stable training.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model converts the image into features, processes them globally using bidirectional Mamba blocks with linear complexity, and reconstructs an enhanced image.</a:t>
            </a:r>
          </a:p>
          <a:p>
            <a:pPr marL="0" indent="0">
              <a:buNone/>
            </a:pPr>
            <a:r>
              <a:rPr lang="en-IN" dirty="0"/>
              <a:t>Input → Encoder → </a:t>
            </a:r>
            <a:r>
              <a:rPr lang="en-IN" dirty="0" err="1"/>
              <a:t>PixelMamba</a:t>
            </a:r>
            <a:r>
              <a:rPr lang="en-IN" dirty="0"/>
              <a:t> (bi-directional) → Gating → Decoder → Enhanced Output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used the UIEB dataset, which contains paired raw and reference underwater images.</a:t>
            </a:r>
            <a:br>
              <a:rPr lang="en-US" dirty="0"/>
            </a:br>
            <a:r>
              <a:rPr lang="en-US" dirty="0"/>
              <a:t>The model was trained for 50 epochs using the Adam optimizer with a learning rate of 1e-4. Batch size is 8.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model achieved a PSNR of around 26.6 dB and SSIM of 0.903.</a:t>
            </a:r>
            <a:br>
              <a:rPr lang="en-US" dirty="0"/>
            </a:br>
            <a:r>
              <a:rPr lang="en-US" dirty="0"/>
              <a:t>This indicates high-quality enhancement with good structural preservation.</a:t>
            </a:r>
            <a:br>
              <a:rPr lang="en-US" dirty="0"/>
            </a:br>
            <a:r>
              <a:rPr lang="en-US" dirty="0"/>
              <a:t>Visually, the images show improved contrast and corrected colors.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Compared to CNN and GAN-based models, </a:t>
            </a:r>
            <a:r>
              <a:rPr lang="en-US" dirty="0" err="1"/>
              <a:t>PIXMambaNet</a:t>
            </a:r>
            <a:r>
              <a:rPr lang="en-US" dirty="0"/>
              <a:t> achieves better performance with fewer parameters.</a:t>
            </a:r>
            <a:br>
              <a:rPr lang="en-US" dirty="0"/>
            </a:br>
            <a:r>
              <a:rPr lang="en-US" dirty="0"/>
              <a:t>This shows that state-space models are both efficient and effective.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Future work focuses on improving generalization, enabling real-time deployment, and extending the model to video and advanced architectures.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PIXMambaNet</a:t>
            </a:r>
            <a:r>
              <a:rPr lang="en-US" dirty="0"/>
              <a:t> provides an efficient and lightweight solution for underwater image enhancement.</a:t>
            </a:r>
            <a:br>
              <a:rPr lang="en-US" dirty="0"/>
            </a:br>
            <a:r>
              <a:rPr lang="en-US" dirty="0"/>
              <a:t>It outperforms traditional methods while maintaining low computational cost.</a:t>
            </a:r>
            <a:br>
              <a:rPr lang="en-US" dirty="0"/>
            </a:br>
            <a:r>
              <a:rPr lang="en-US" dirty="0"/>
              <a:t>Future work includes real-time deployment and video enhancement.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Key IEEE papers</a:t>
            </a:r>
          </a:p>
          <a:p>
            <a:pPr marL="0" indent="0">
              <a:buNone/>
            </a:pPr>
            <a:r>
              <a:rPr dirty="0"/>
              <a:t>UIEB dataset</a:t>
            </a:r>
          </a:p>
          <a:p>
            <a:pPr marL="0" indent="0">
              <a:buNone/>
            </a:pPr>
            <a:r>
              <a:rPr dirty="0"/>
              <a:t>Mamba 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</TotalTime>
  <Words>559</Words>
  <Application>Microsoft Office PowerPoint</Application>
  <PresentationFormat>On-screen Show (4:3)</PresentationFormat>
  <Paragraphs>40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2013 - 2022 Theme</vt:lpstr>
      <vt:lpstr>Underwater Image Enhancement using PIXMambaNet</vt:lpstr>
      <vt:lpstr>Introduction</vt:lpstr>
      <vt:lpstr>Problem Statement</vt:lpstr>
      <vt:lpstr>Why It Matters</vt:lpstr>
      <vt:lpstr>Existing Methods</vt:lpstr>
      <vt:lpstr>Proposed Solution</vt:lpstr>
      <vt:lpstr>What is Mamba?</vt:lpstr>
      <vt:lpstr>Architecture Overview</vt:lpstr>
      <vt:lpstr>PixelMamba Block</vt:lpstr>
      <vt:lpstr>Working Flow</vt:lpstr>
      <vt:lpstr>Dataset</vt:lpstr>
      <vt:lpstr>Results</vt:lpstr>
      <vt:lpstr>Comparison</vt:lpstr>
      <vt:lpstr>Future Work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Aditya Gupta</dc:creator>
  <cp:keywords/>
  <dc:description>generated using python-pptx</dc:description>
  <cp:lastModifiedBy>Aditya Gupta</cp:lastModifiedBy>
  <cp:revision>3</cp:revision>
  <dcterms:created xsi:type="dcterms:W3CDTF">2013-01-27T09:14:16Z</dcterms:created>
  <dcterms:modified xsi:type="dcterms:W3CDTF">2026-04-26T18:34:15Z</dcterms:modified>
  <cp:category/>
</cp:coreProperties>
</file>